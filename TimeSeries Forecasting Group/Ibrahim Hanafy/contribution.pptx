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Times New Roman" charset="1" panose="02020603050405020304"/>
      <p:regular r:id="rId8"/>
    </p:embeddedFont>
    <p:embeddedFont>
      <p:font typeface="Times New Roman Bold" charset="1" panose="02020803070505020304"/>
      <p:regular r:id="rId9"/>
    </p:embeddedFont>
    <p:embeddedFont>
      <p:font typeface="Arimo Bold Italics" charset="1" panose="020B0704020202090204"/>
      <p:regular r:id="rId10"/>
    </p:embeddedFont>
    <p:embeddedFont>
      <p:font typeface="Arimo Bold" charset="1" panose="020B0704020202020204"/>
      <p:regular r:id="rId11"/>
    </p:embeddedFont>
    <p:embeddedFont>
      <p:font typeface="Arimo" charset="1" panose="020B0604020202020204"/>
      <p:regular r:id="rId12"/>
    </p:embeddedFont>
    <p:embeddedFont>
      <p:font typeface="Arimo Italics" charset="1" panose="020B060402020209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511855"/>
          </a:xfrm>
          <a:custGeom>
            <a:avLst/>
            <a:gdLst/>
            <a:ahLst/>
            <a:cxnLst/>
            <a:rect r="r" b="b" t="t" l="l"/>
            <a:pathLst>
              <a:path h="10511855" w="18288000">
                <a:moveTo>
                  <a:pt x="0" y="0"/>
                </a:moveTo>
                <a:lnTo>
                  <a:pt x="18288000" y="0"/>
                </a:lnTo>
                <a:lnTo>
                  <a:pt x="18288000" y="10511855"/>
                </a:lnTo>
                <a:lnTo>
                  <a:pt x="0" y="10511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73" t="0" r="-487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1925" y="143721"/>
            <a:ext cx="2899137" cy="761024"/>
          </a:xfrm>
          <a:custGeom>
            <a:avLst/>
            <a:gdLst/>
            <a:ahLst/>
            <a:cxnLst/>
            <a:rect r="r" b="b" t="t" l="l"/>
            <a:pathLst>
              <a:path h="761024" w="2899137">
                <a:moveTo>
                  <a:pt x="0" y="0"/>
                </a:moveTo>
                <a:lnTo>
                  <a:pt x="2899137" y="0"/>
                </a:lnTo>
                <a:lnTo>
                  <a:pt x="2899137" y="761023"/>
                </a:lnTo>
                <a:lnTo>
                  <a:pt x="0" y="761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9402862"/>
            <a:ext cx="18288000" cy="893445"/>
            <a:chOff x="0" y="0"/>
            <a:chExt cx="4816593" cy="2353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235311"/>
            </a:xfrm>
            <a:custGeom>
              <a:avLst/>
              <a:gdLst/>
              <a:ahLst/>
              <a:cxnLst/>
              <a:rect r="r" b="b" t="t" l="l"/>
              <a:pathLst>
                <a:path h="23531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5311"/>
                  </a:lnTo>
                  <a:lnTo>
                    <a:pt x="0" y="235311"/>
                  </a:lnTo>
                  <a:close/>
                </a:path>
              </a:pathLst>
            </a:custGeom>
            <a:solidFill>
              <a:srgbClr val="178FC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816593" cy="292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901756" y="143721"/>
            <a:ext cx="2109941" cy="986724"/>
          </a:xfrm>
          <a:custGeom>
            <a:avLst/>
            <a:gdLst/>
            <a:ahLst/>
            <a:cxnLst/>
            <a:rect r="r" b="b" t="t" l="l"/>
            <a:pathLst>
              <a:path h="986724" w="2109941">
                <a:moveTo>
                  <a:pt x="0" y="0"/>
                </a:moveTo>
                <a:lnTo>
                  <a:pt x="2109942" y="0"/>
                </a:lnTo>
                <a:lnTo>
                  <a:pt x="2109942" y="986724"/>
                </a:lnTo>
                <a:lnTo>
                  <a:pt x="0" y="986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458" r="0" b="-3458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9491656"/>
            <a:ext cx="16230600" cy="715858"/>
            <a:chOff x="0" y="0"/>
            <a:chExt cx="4274726" cy="1885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4726" cy="188539"/>
            </a:xfrm>
            <a:custGeom>
              <a:avLst/>
              <a:gdLst/>
              <a:ahLst/>
              <a:cxnLst/>
              <a:rect r="r" b="b" t="t" l="l"/>
              <a:pathLst>
                <a:path h="188539" w="4274726">
                  <a:moveTo>
                    <a:pt x="7155" y="0"/>
                  </a:moveTo>
                  <a:lnTo>
                    <a:pt x="4267571" y="0"/>
                  </a:lnTo>
                  <a:cubicBezTo>
                    <a:pt x="4271523" y="0"/>
                    <a:pt x="4274726" y="3203"/>
                    <a:pt x="4274726" y="7155"/>
                  </a:cubicBezTo>
                  <a:lnTo>
                    <a:pt x="4274726" y="181384"/>
                  </a:lnTo>
                  <a:cubicBezTo>
                    <a:pt x="4274726" y="183282"/>
                    <a:pt x="4273972" y="185101"/>
                    <a:pt x="4272630" y="186443"/>
                  </a:cubicBezTo>
                  <a:cubicBezTo>
                    <a:pt x="4271289" y="187785"/>
                    <a:pt x="4269468" y="188539"/>
                    <a:pt x="4267571" y="188539"/>
                  </a:cubicBezTo>
                  <a:lnTo>
                    <a:pt x="7155" y="188539"/>
                  </a:lnTo>
                  <a:cubicBezTo>
                    <a:pt x="5257" y="188539"/>
                    <a:pt x="3437" y="187785"/>
                    <a:pt x="2096" y="186443"/>
                  </a:cubicBezTo>
                  <a:cubicBezTo>
                    <a:pt x="754" y="185101"/>
                    <a:pt x="0" y="183282"/>
                    <a:pt x="0" y="181384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78FC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4274726" cy="293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951704" y="-177702"/>
            <a:ext cx="3059410" cy="1705770"/>
          </a:xfrm>
          <a:custGeom>
            <a:avLst/>
            <a:gdLst/>
            <a:ahLst/>
            <a:cxnLst/>
            <a:rect r="r" b="b" t="t" l="l"/>
            <a:pathLst>
              <a:path h="1705770" w="3059410">
                <a:moveTo>
                  <a:pt x="0" y="0"/>
                </a:moveTo>
                <a:lnTo>
                  <a:pt x="3059410" y="0"/>
                </a:lnTo>
                <a:lnTo>
                  <a:pt x="3059410" y="1705770"/>
                </a:lnTo>
                <a:lnTo>
                  <a:pt x="0" y="17057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385742" y="9584313"/>
            <a:ext cx="1884313" cy="530542"/>
            <a:chOff x="0" y="0"/>
            <a:chExt cx="496280" cy="1397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6280" cy="139731"/>
            </a:xfrm>
            <a:custGeom>
              <a:avLst/>
              <a:gdLst/>
              <a:ahLst/>
              <a:cxnLst/>
              <a:rect r="r" b="b" t="t" l="l"/>
              <a:pathLst>
                <a:path h="139731" w="496280">
                  <a:moveTo>
                    <a:pt x="65738" y="0"/>
                  </a:moveTo>
                  <a:lnTo>
                    <a:pt x="430542" y="0"/>
                  </a:lnTo>
                  <a:cubicBezTo>
                    <a:pt x="447977" y="0"/>
                    <a:pt x="464698" y="6926"/>
                    <a:pt x="477026" y="19254"/>
                  </a:cubicBezTo>
                  <a:cubicBezTo>
                    <a:pt x="489354" y="31582"/>
                    <a:pt x="496280" y="48303"/>
                    <a:pt x="496280" y="65738"/>
                  </a:cubicBezTo>
                  <a:lnTo>
                    <a:pt x="496280" y="73993"/>
                  </a:lnTo>
                  <a:cubicBezTo>
                    <a:pt x="496280" y="110300"/>
                    <a:pt x="466848" y="139731"/>
                    <a:pt x="430542" y="139731"/>
                  </a:cubicBezTo>
                  <a:lnTo>
                    <a:pt x="65738" y="139731"/>
                  </a:lnTo>
                  <a:cubicBezTo>
                    <a:pt x="48303" y="139731"/>
                    <a:pt x="31582" y="132805"/>
                    <a:pt x="19254" y="120477"/>
                  </a:cubicBezTo>
                  <a:cubicBezTo>
                    <a:pt x="6926" y="108149"/>
                    <a:pt x="0" y="91428"/>
                    <a:pt x="0" y="73993"/>
                  </a:cubicBezTo>
                  <a:lnTo>
                    <a:pt x="0" y="65738"/>
                  </a:lnTo>
                  <a:cubicBezTo>
                    <a:pt x="0" y="48303"/>
                    <a:pt x="6926" y="31582"/>
                    <a:pt x="19254" y="19254"/>
                  </a:cubicBezTo>
                  <a:cubicBezTo>
                    <a:pt x="31582" y="6926"/>
                    <a:pt x="48303" y="0"/>
                    <a:pt x="65738" y="0"/>
                  </a:cubicBezTo>
                  <a:close/>
                </a:path>
              </a:pathLst>
            </a:custGeom>
            <a:solidFill>
              <a:srgbClr val="5E96B5">
                <a:alpha val="3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496280" cy="206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" y="2667000"/>
            <a:ext cx="6858000" cy="5334000"/>
            <a:chOff x="0" y="0"/>
            <a:chExt cx="9144000" cy="711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9144000">
                  <a:moveTo>
                    <a:pt x="15804" y="0"/>
                  </a:moveTo>
                  <a:lnTo>
                    <a:pt x="9128196" y="0"/>
                  </a:lnTo>
                  <a:cubicBezTo>
                    <a:pt x="9132388" y="0"/>
                    <a:pt x="9136407" y="1665"/>
                    <a:pt x="9139371" y="4629"/>
                  </a:cubicBezTo>
                  <a:cubicBezTo>
                    <a:pt x="9142335" y="7593"/>
                    <a:pt x="9144000" y="11613"/>
                    <a:pt x="9144000" y="15804"/>
                  </a:cubicBezTo>
                  <a:lnTo>
                    <a:pt x="9144000" y="7096196"/>
                  </a:lnTo>
                  <a:cubicBezTo>
                    <a:pt x="9144000" y="7100388"/>
                    <a:pt x="9142335" y="7104407"/>
                    <a:pt x="9139371" y="7107371"/>
                  </a:cubicBezTo>
                  <a:cubicBezTo>
                    <a:pt x="9136407" y="7110335"/>
                    <a:pt x="9132388" y="7112000"/>
                    <a:pt x="9128196" y="7112000"/>
                  </a:cubicBezTo>
                  <a:lnTo>
                    <a:pt x="15804" y="7112000"/>
                  </a:lnTo>
                  <a:cubicBezTo>
                    <a:pt x="11613" y="7112000"/>
                    <a:pt x="7593" y="7110335"/>
                    <a:pt x="4629" y="7107371"/>
                  </a:cubicBezTo>
                  <a:cubicBezTo>
                    <a:pt x="1665" y="7104407"/>
                    <a:pt x="0" y="7100388"/>
                    <a:pt x="0" y="7096196"/>
                  </a:cubicBezTo>
                  <a:lnTo>
                    <a:pt x="0" y="15804"/>
                  </a:lnTo>
                  <a:cubicBezTo>
                    <a:pt x="0" y="11613"/>
                    <a:pt x="1665" y="7593"/>
                    <a:pt x="4629" y="4629"/>
                  </a:cubicBezTo>
                  <a:cubicBezTo>
                    <a:pt x="7593" y="1665"/>
                    <a:pt x="11613" y="0"/>
                    <a:pt x="15804" y="0"/>
                  </a:cubicBezTo>
                  <a:close/>
                </a:path>
              </a:pathLst>
            </a:custGeom>
            <a:solidFill>
              <a:srgbClr val="EEF4F9"/>
            </a:solidFill>
            <a:ln w="28575" cap="sq">
              <a:solidFill>
                <a:srgbClr val="178FC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62000" y="2246069"/>
            <a:ext cx="6888652" cy="6663321"/>
          </a:xfrm>
          <a:custGeom>
            <a:avLst/>
            <a:gdLst/>
            <a:ahLst/>
            <a:cxnLst/>
            <a:rect r="r" b="b" t="t" l="l"/>
            <a:pathLst>
              <a:path h="6663321" w="6888652">
                <a:moveTo>
                  <a:pt x="0" y="0"/>
                </a:moveTo>
                <a:lnTo>
                  <a:pt x="6888652" y="0"/>
                </a:lnTo>
                <a:lnTo>
                  <a:pt x="6888652" y="6663321"/>
                </a:lnTo>
                <a:lnTo>
                  <a:pt x="0" y="66633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683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10004" y="9612095"/>
            <a:ext cx="908248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56688" y="9612095"/>
            <a:ext cx="1443732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35010" y="9612095"/>
            <a:ext cx="142746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55799" y="9612095"/>
            <a:ext cx="989707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67459" y="9612095"/>
            <a:ext cx="2263577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24762" y="9612095"/>
            <a:ext cx="1281807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584283" y="9612095"/>
            <a:ext cx="1330424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42868" y="9553039"/>
            <a:ext cx="1770063" cy="51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 strike="noStrike" u="none">
                <a:solidFill>
                  <a:srgbClr val="0E1A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Case Study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2000" y="1146810"/>
            <a:ext cx="12382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0E1A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Chaos-Informed Forecaster — Lorenz Validation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605298" y="9612095"/>
            <a:ext cx="29210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25500" y="1771650"/>
            <a:ext cx="4000500" cy="475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9"/>
              </a:lnSpc>
            </a:pPr>
            <a:r>
              <a:rPr lang="en-US" b="true" sz="2649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Ibrahim Hanafy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2000" y="1752600"/>
            <a:ext cx="13335000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78FCF"/>
                </a:solidFill>
                <a:latin typeface="Arimo Bold"/>
                <a:ea typeface="Arimo Bold"/>
                <a:cs typeface="Arimo Bold"/>
                <a:sym typeface="Arimo Bold"/>
              </a:rPr>
              <a:t>Architecture: Chaos-Informed NGRC–TCN Encoder–Decoder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91500" y="2476500"/>
            <a:ext cx="93345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8FCF"/>
                </a:solidFill>
                <a:latin typeface="Arimo Bold"/>
                <a:ea typeface="Arimo Bold"/>
                <a:cs typeface="Arimo Bold"/>
                <a:sym typeface="Arimo Bold"/>
              </a:rPr>
              <a:t>Validation on Lorenz Chaotic System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91500" y="2876550"/>
            <a:ext cx="933450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Deterministic, noise-free system with known Lyapunov exponent</a:t>
            </a:r>
          </a:p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Cleanly isolates whether the architecture can learn chaotic dynamics</a:t>
            </a:r>
          </a:p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Phase-space reconstruction (PSR) + NGRC nonlinear feature expansion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191500" y="4000500"/>
            <a:ext cx="93345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8FCF"/>
                </a:solidFill>
                <a:latin typeface="Arimo Bold"/>
                <a:ea typeface="Arimo Bold"/>
                <a:cs typeface="Arimo Bold"/>
                <a:sym typeface="Arimo Bold"/>
              </a:rPr>
              <a:t>Results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91500" y="4400550"/>
            <a:ext cx="9334500" cy="115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R² = 0.996 at 0.23 Lyapunov times (short-range)</a:t>
            </a:r>
          </a:p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R² = 0.954 at 1 full Lyapunov time (long-range)</a:t>
            </a:r>
          </a:p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Shuffled-target control: R² = −0.005 — no data leakage</a:t>
            </a:r>
          </a:p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Recursive (closed-loop) forecasting tested successfully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91500" y="5857875"/>
            <a:ext cx="93345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8FCF"/>
                </a:solidFill>
                <a:latin typeface="Arimo Bold"/>
                <a:ea typeface="Arimo Bold"/>
                <a:cs typeface="Arimo Bold"/>
                <a:sym typeface="Arimo Bold"/>
              </a:rPr>
              <a:t>Key Finding: Input-Length Ablation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191500" y="6257925"/>
            <a:ext cx="93345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Input window reduced 540 → 64 steps: R² at 1λt jumped 0.34 → 0.96</a:t>
            </a:r>
          </a:p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Shorter input removes redundant attractor orbits, improves focus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191500" y="7381875"/>
            <a:ext cx="93345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8FCF"/>
                </a:solidFill>
                <a:latin typeface="Arimo Bold"/>
                <a:ea typeface="Arimo Bold"/>
                <a:cs typeface="Arimo Bold"/>
                <a:sym typeface="Arimo Bold"/>
              </a:rPr>
              <a:t>Next Step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191500" y="7781925"/>
            <a:ext cx="93345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Tuning and testing this architecture on real ECG signals</a:t>
            </a:r>
          </a:p>
          <a:p>
            <a:pPr algn="l" marL="356235" indent="-178118" lvl="1">
              <a:lnSpc>
                <a:spcPts val="2310"/>
              </a:lnSpc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Adapting chaos-informed features to stochastic biomedical data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511855"/>
          </a:xfrm>
          <a:custGeom>
            <a:avLst/>
            <a:gdLst/>
            <a:ahLst/>
            <a:cxnLst/>
            <a:rect r="r" b="b" t="t" l="l"/>
            <a:pathLst>
              <a:path h="10511855" w="18288000">
                <a:moveTo>
                  <a:pt x="0" y="0"/>
                </a:moveTo>
                <a:lnTo>
                  <a:pt x="18288000" y="0"/>
                </a:lnTo>
                <a:lnTo>
                  <a:pt x="18288000" y="10511855"/>
                </a:lnTo>
                <a:lnTo>
                  <a:pt x="0" y="10511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73" t="0" r="-487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1925" y="143721"/>
            <a:ext cx="2899137" cy="761024"/>
          </a:xfrm>
          <a:custGeom>
            <a:avLst/>
            <a:gdLst/>
            <a:ahLst/>
            <a:cxnLst/>
            <a:rect r="r" b="b" t="t" l="l"/>
            <a:pathLst>
              <a:path h="761024" w="2899137">
                <a:moveTo>
                  <a:pt x="0" y="0"/>
                </a:moveTo>
                <a:lnTo>
                  <a:pt x="2899137" y="0"/>
                </a:lnTo>
                <a:lnTo>
                  <a:pt x="2899137" y="761023"/>
                </a:lnTo>
                <a:lnTo>
                  <a:pt x="0" y="761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9402862"/>
            <a:ext cx="18288000" cy="893445"/>
            <a:chOff x="0" y="0"/>
            <a:chExt cx="4816593" cy="2353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235311"/>
            </a:xfrm>
            <a:custGeom>
              <a:avLst/>
              <a:gdLst/>
              <a:ahLst/>
              <a:cxnLst/>
              <a:rect r="r" b="b" t="t" l="l"/>
              <a:pathLst>
                <a:path h="23531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5311"/>
                  </a:lnTo>
                  <a:lnTo>
                    <a:pt x="0" y="235311"/>
                  </a:lnTo>
                  <a:close/>
                </a:path>
              </a:pathLst>
            </a:custGeom>
            <a:solidFill>
              <a:srgbClr val="178FC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816593" cy="292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901756" y="143721"/>
            <a:ext cx="2109941" cy="986724"/>
          </a:xfrm>
          <a:custGeom>
            <a:avLst/>
            <a:gdLst/>
            <a:ahLst/>
            <a:cxnLst/>
            <a:rect r="r" b="b" t="t" l="l"/>
            <a:pathLst>
              <a:path h="986724" w="2109941">
                <a:moveTo>
                  <a:pt x="0" y="0"/>
                </a:moveTo>
                <a:lnTo>
                  <a:pt x="2109942" y="0"/>
                </a:lnTo>
                <a:lnTo>
                  <a:pt x="2109942" y="986724"/>
                </a:lnTo>
                <a:lnTo>
                  <a:pt x="0" y="986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458" r="0" b="-3458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9491656"/>
            <a:ext cx="16230600" cy="715858"/>
            <a:chOff x="0" y="0"/>
            <a:chExt cx="4274726" cy="1885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4726" cy="188539"/>
            </a:xfrm>
            <a:custGeom>
              <a:avLst/>
              <a:gdLst/>
              <a:ahLst/>
              <a:cxnLst/>
              <a:rect r="r" b="b" t="t" l="l"/>
              <a:pathLst>
                <a:path h="188539" w="4274726">
                  <a:moveTo>
                    <a:pt x="7155" y="0"/>
                  </a:moveTo>
                  <a:lnTo>
                    <a:pt x="4267571" y="0"/>
                  </a:lnTo>
                  <a:cubicBezTo>
                    <a:pt x="4271523" y="0"/>
                    <a:pt x="4274726" y="3203"/>
                    <a:pt x="4274726" y="7155"/>
                  </a:cubicBezTo>
                  <a:lnTo>
                    <a:pt x="4274726" y="181384"/>
                  </a:lnTo>
                  <a:cubicBezTo>
                    <a:pt x="4274726" y="183282"/>
                    <a:pt x="4273972" y="185101"/>
                    <a:pt x="4272630" y="186443"/>
                  </a:cubicBezTo>
                  <a:cubicBezTo>
                    <a:pt x="4271289" y="187785"/>
                    <a:pt x="4269468" y="188539"/>
                    <a:pt x="4267571" y="188539"/>
                  </a:cubicBezTo>
                  <a:lnTo>
                    <a:pt x="7155" y="188539"/>
                  </a:lnTo>
                  <a:cubicBezTo>
                    <a:pt x="5257" y="188539"/>
                    <a:pt x="3437" y="187785"/>
                    <a:pt x="2096" y="186443"/>
                  </a:cubicBezTo>
                  <a:cubicBezTo>
                    <a:pt x="754" y="185101"/>
                    <a:pt x="0" y="183282"/>
                    <a:pt x="0" y="181384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78FC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4274726" cy="293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951704" y="-177702"/>
            <a:ext cx="3059410" cy="1705770"/>
          </a:xfrm>
          <a:custGeom>
            <a:avLst/>
            <a:gdLst/>
            <a:ahLst/>
            <a:cxnLst/>
            <a:rect r="r" b="b" t="t" l="l"/>
            <a:pathLst>
              <a:path h="1705770" w="3059410">
                <a:moveTo>
                  <a:pt x="0" y="0"/>
                </a:moveTo>
                <a:lnTo>
                  <a:pt x="3059410" y="0"/>
                </a:lnTo>
                <a:lnTo>
                  <a:pt x="3059410" y="1705770"/>
                </a:lnTo>
                <a:lnTo>
                  <a:pt x="0" y="17057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351291" y="9584313"/>
            <a:ext cx="1828105" cy="530542"/>
            <a:chOff x="0" y="0"/>
            <a:chExt cx="481476" cy="1397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476" cy="139731"/>
            </a:xfrm>
            <a:custGeom>
              <a:avLst/>
              <a:gdLst/>
              <a:ahLst/>
              <a:cxnLst/>
              <a:rect r="r" b="b" t="t" l="l"/>
              <a:pathLst>
                <a:path h="139731" w="481476">
                  <a:moveTo>
                    <a:pt x="67759" y="0"/>
                  </a:moveTo>
                  <a:lnTo>
                    <a:pt x="413717" y="0"/>
                  </a:lnTo>
                  <a:cubicBezTo>
                    <a:pt x="451140" y="0"/>
                    <a:pt x="481476" y="30337"/>
                    <a:pt x="481476" y="67759"/>
                  </a:cubicBezTo>
                  <a:lnTo>
                    <a:pt x="481476" y="71972"/>
                  </a:lnTo>
                  <a:cubicBezTo>
                    <a:pt x="481476" y="109395"/>
                    <a:pt x="451140" y="139731"/>
                    <a:pt x="413717" y="139731"/>
                  </a:cubicBezTo>
                  <a:lnTo>
                    <a:pt x="67759" y="139731"/>
                  </a:lnTo>
                  <a:cubicBezTo>
                    <a:pt x="30337" y="139731"/>
                    <a:pt x="0" y="109395"/>
                    <a:pt x="0" y="71972"/>
                  </a:cubicBezTo>
                  <a:lnTo>
                    <a:pt x="0" y="67759"/>
                  </a:lnTo>
                  <a:cubicBezTo>
                    <a:pt x="0" y="30337"/>
                    <a:pt x="30337" y="0"/>
                    <a:pt x="67759" y="0"/>
                  </a:cubicBezTo>
                  <a:close/>
                </a:path>
              </a:pathLst>
            </a:custGeom>
            <a:solidFill>
              <a:srgbClr val="5E96B5">
                <a:alpha val="3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481476" cy="206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91625" y="2495550"/>
            <a:ext cx="7239000" cy="400050"/>
            <a:chOff x="0" y="0"/>
            <a:chExt cx="9652000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52000" cy="533400"/>
            </a:xfrm>
            <a:custGeom>
              <a:avLst/>
              <a:gdLst/>
              <a:ahLst/>
              <a:cxnLst/>
              <a:rect r="r" b="b" t="t" l="l"/>
              <a:pathLst>
                <a:path h="533400" w="9652000">
                  <a:moveTo>
                    <a:pt x="6417" y="0"/>
                  </a:moveTo>
                  <a:lnTo>
                    <a:pt x="9645583" y="0"/>
                  </a:lnTo>
                  <a:cubicBezTo>
                    <a:pt x="9649127" y="0"/>
                    <a:pt x="9652000" y="2873"/>
                    <a:pt x="9652000" y="6417"/>
                  </a:cubicBezTo>
                  <a:lnTo>
                    <a:pt x="9652000" y="526983"/>
                  </a:lnTo>
                  <a:cubicBezTo>
                    <a:pt x="9652000" y="530527"/>
                    <a:pt x="9649127" y="533400"/>
                    <a:pt x="9645583" y="533400"/>
                  </a:cubicBezTo>
                  <a:lnTo>
                    <a:pt x="6417" y="533400"/>
                  </a:lnTo>
                  <a:cubicBezTo>
                    <a:pt x="2873" y="533400"/>
                    <a:pt x="0" y="530527"/>
                    <a:pt x="0" y="526983"/>
                  </a:cubicBezTo>
                  <a:lnTo>
                    <a:pt x="0" y="6417"/>
                  </a:lnTo>
                  <a:cubicBezTo>
                    <a:pt x="0" y="2873"/>
                    <a:pt x="2873" y="0"/>
                    <a:pt x="6417" y="0"/>
                  </a:cubicBezTo>
                  <a:close/>
                </a:path>
              </a:pathLst>
            </a:custGeom>
            <a:solidFill>
              <a:srgbClr val="178FC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652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91625" y="5619750"/>
            <a:ext cx="7239000" cy="3048000"/>
            <a:chOff x="0" y="0"/>
            <a:chExt cx="9652000" cy="406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52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9652000">
                  <a:moveTo>
                    <a:pt x="14973" y="0"/>
                  </a:moveTo>
                  <a:lnTo>
                    <a:pt x="9637027" y="0"/>
                  </a:lnTo>
                  <a:cubicBezTo>
                    <a:pt x="9645297" y="0"/>
                    <a:pt x="9652000" y="6703"/>
                    <a:pt x="9652000" y="14973"/>
                  </a:cubicBezTo>
                  <a:lnTo>
                    <a:pt x="9652000" y="4049027"/>
                  </a:lnTo>
                  <a:cubicBezTo>
                    <a:pt x="9652000" y="4057297"/>
                    <a:pt x="9645297" y="4064000"/>
                    <a:pt x="9637027" y="4064000"/>
                  </a:cubicBezTo>
                  <a:lnTo>
                    <a:pt x="14973" y="4064000"/>
                  </a:lnTo>
                  <a:cubicBezTo>
                    <a:pt x="6703" y="4064000"/>
                    <a:pt x="0" y="4057297"/>
                    <a:pt x="0" y="4049027"/>
                  </a:cubicBezTo>
                  <a:lnTo>
                    <a:pt x="0" y="14973"/>
                  </a:lnTo>
                  <a:cubicBezTo>
                    <a:pt x="0" y="6703"/>
                    <a:pt x="6703" y="0"/>
                    <a:pt x="14973" y="0"/>
                  </a:cubicBezTo>
                  <a:close/>
                </a:path>
              </a:pathLst>
            </a:custGeom>
            <a:solidFill>
              <a:srgbClr val="EEF4F9"/>
            </a:solidFill>
            <a:ln w="28575" cap="sq">
              <a:solidFill>
                <a:srgbClr val="178FC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6520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9118207" y="5438775"/>
            <a:ext cx="7385835" cy="3754262"/>
          </a:xfrm>
          <a:custGeom>
            <a:avLst/>
            <a:gdLst/>
            <a:ahLst/>
            <a:cxnLst/>
            <a:rect r="r" b="b" t="t" l="l"/>
            <a:pathLst>
              <a:path h="3754262" w="7385835">
                <a:moveTo>
                  <a:pt x="0" y="0"/>
                </a:moveTo>
                <a:lnTo>
                  <a:pt x="7385836" y="0"/>
                </a:lnTo>
                <a:lnTo>
                  <a:pt x="7385836" y="3754262"/>
                </a:lnTo>
                <a:lnTo>
                  <a:pt x="0" y="37542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10004" y="9612095"/>
            <a:ext cx="908248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56688" y="9612095"/>
            <a:ext cx="1443732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35010" y="9612095"/>
            <a:ext cx="142746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55799" y="9612095"/>
            <a:ext cx="989707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767459" y="9612095"/>
            <a:ext cx="2263577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24016" y="9612095"/>
            <a:ext cx="1322388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Study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584283" y="9612095"/>
            <a:ext cx="1330424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36520" y="9553039"/>
            <a:ext cx="1657648" cy="51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 strike="noStrike" u="none">
                <a:solidFill>
                  <a:srgbClr val="0E1A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Discussion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2000" y="1089660"/>
            <a:ext cx="123825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9"/>
              </a:lnSpc>
              <a:spcBef>
                <a:spcPct val="0"/>
              </a:spcBef>
            </a:pPr>
            <a:r>
              <a:rPr lang="en-US" b="true" sz="3150" strike="noStrike" u="none">
                <a:solidFill>
                  <a:srgbClr val="0E1A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TCN Multi-Step ECG Forecasting — MIT-BIH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605298" y="9612095"/>
            <a:ext cx="29210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25500" y="1781175"/>
            <a:ext cx="4000500" cy="49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9"/>
              </a:lnSpc>
            </a:pPr>
            <a:r>
              <a:rPr lang="en-US" sz="2849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Ibrahim Hanafy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2000" y="1790700"/>
            <a:ext cx="12573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178FCF"/>
                </a:solidFill>
                <a:latin typeface="Arimo Bold"/>
                <a:ea typeface="Arimo Bold"/>
                <a:cs typeface="Arimo Bold"/>
                <a:sym typeface="Arimo Bold"/>
              </a:rPr>
              <a:t>Dataset: 21 MIT-BIH patients (excl. 111 &amp; 118)  |  Horizons: H = 1, 10, 15, 20  |  Multi-Output (MIMO)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2000" y="2495550"/>
            <a:ext cx="7810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78FCF"/>
                </a:solidFill>
                <a:latin typeface="Arimo Bold"/>
                <a:ea typeface="Arimo Bold"/>
                <a:cs typeface="Arimo Bold"/>
                <a:sym typeface="Arimo Bold"/>
              </a:rPr>
              <a:t>Configuration Comparison: Ours vs Paper (Dudukcu 2023)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62000" y="2914650"/>
            <a:ext cx="781050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042" indent="-170021" lvl="1">
              <a:lnSpc>
                <a:spcPts val="2204"/>
              </a:lnSpc>
              <a:buFont typeface="Arial"/>
              <a:buChar char="•"/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Paper: 1 residual block, 256 filters, batch 128</a:t>
            </a:r>
          </a:p>
          <a:p>
            <a:pPr algn="l" marL="340042" indent="-170021" lvl="1">
              <a:lnSpc>
                <a:spcPts val="2204"/>
              </a:lnSpc>
              <a:buFont typeface="Arial"/>
              <a:buChar char="•"/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Ours: 3 residual blocks, 64 filters, batch 256</a:t>
            </a:r>
          </a:p>
          <a:p>
            <a:pPr algn="l" marL="340042" indent="-170021" lvl="1">
              <a:lnSpc>
                <a:spcPts val="2204"/>
              </a:lnSpc>
              <a:buFont typeface="Arial"/>
              <a:buChar char="•"/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Deeper network with smaller filters → better generalization</a:t>
            </a:r>
          </a:p>
          <a:p>
            <a:pPr algn="l" marL="340042" indent="-170021" lvl="1">
              <a:lnSpc>
                <a:spcPts val="2204"/>
              </a:lnSpc>
              <a:buFont typeface="Arial"/>
              <a:buChar char="•"/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Outperforms the paper across all horizons and all metrics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62000" y="4514850"/>
            <a:ext cx="7810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78FCF"/>
                </a:solidFill>
                <a:latin typeface="Arimo Bold"/>
                <a:ea typeface="Arimo Bold"/>
                <a:cs typeface="Arimo Bold"/>
                <a:sym typeface="Arimo Bold"/>
              </a:rPr>
              <a:t>Overall Mean (21 patients)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62000" y="4933950"/>
            <a:ext cx="7810500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042" indent="-170021" lvl="1">
              <a:lnSpc>
                <a:spcPts val="2204"/>
              </a:lnSpc>
              <a:buFont typeface="Arial"/>
              <a:buChar char="•"/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Ours:  RMSE = 0.0332  |  MAE = 0.0148  |  R² = 0.856</a:t>
            </a:r>
          </a:p>
          <a:p>
            <a:pPr algn="l" marL="340042" indent="-170021" lvl="1">
              <a:lnSpc>
                <a:spcPts val="2204"/>
              </a:lnSpc>
              <a:buFont typeface="Arial"/>
              <a:buChar char="•"/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Paper:  RMSE = 0.0362  |  MAE = 0.0160  |  R² = 0.837</a:t>
            </a:r>
          </a:p>
          <a:p>
            <a:pPr algn="l" marL="340042" indent="-170021" lvl="1">
              <a:lnSpc>
                <a:spcPts val="2204"/>
              </a:lnSpc>
              <a:buFont typeface="Arial"/>
              <a:buChar char="•"/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Improvement: −8.3% RMSE, −7.5% MAE, +2.3% R²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62000" y="6419850"/>
            <a:ext cx="7810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78FCF"/>
                </a:solidFill>
                <a:latin typeface="Arimo Bold"/>
                <a:ea typeface="Arimo Bold"/>
                <a:cs typeface="Arimo Bold"/>
                <a:sym typeface="Arimo Bold"/>
              </a:rPr>
              <a:t>Future Work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2000" y="6838950"/>
            <a:ext cx="7810500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042" indent="-170021" lvl="1">
              <a:lnSpc>
                <a:spcPts val="2204"/>
              </a:lnSpc>
              <a:buFont typeface="Arial"/>
              <a:buChar char="•"/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Hyperparameter optimization: Optuna TPE with pruning, plus Grey Wolf Optimizer (GWO) comparison</a:t>
            </a:r>
          </a:p>
          <a:p>
            <a:pPr algn="l" marL="340042" indent="-170021" lvl="1">
              <a:lnSpc>
                <a:spcPts val="2204"/>
              </a:lnSpc>
              <a:buFont typeface="Arial"/>
              <a:buChar char="•"/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Extend evaluation to additional patient populations and longer horizons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34500" y="2524125"/>
            <a:ext cx="762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620500" y="2524125"/>
            <a:ext cx="1524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RMSE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239750" y="2524125"/>
            <a:ext cx="1524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859000" y="2524125"/>
            <a:ext cx="1524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R²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334500" y="3000375"/>
            <a:ext cx="76200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0E1A3A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  <a:p>
            <a:pPr algn="ctr">
              <a:lnSpc>
                <a:spcPts val="2100"/>
              </a:lnSpc>
            </a:pPr>
          </a:p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0E1A3A"/>
                </a:solidFill>
                <a:latin typeface="Arimo Bold"/>
                <a:ea typeface="Arimo Bold"/>
                <a:cs typeface="Arimo Bold"/>
                <a:sym typeface="Arimo Bold"/>
              </a:rPr>
              <a:t>10</a:t>
            </a:r>
          </a:p>
          <a:p>
            <a:pPr algn="ctr">
              <a:lnSpc>
                <a:spcPts val="2100"/>
              </a:lnSpc>
            </a:pPr>
          </a:p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0E1A3A"/>
                </a:solidFill>
                <a:latin typeface="Arimo Bold"/>
                <a:ea typeface="Arimo Bold"/>
                <a:cs typeface="Arimo Bold"/>
                <a:sym typeface="Arimo Bold"/>
              </a:rPr>
              <a:t>15</a:t>
            </a:r>
          </a:p>
          <a:p>
            <a:pPr algn="ctr">
              <a:lnSpc>
                <a:spcPts val="2100"/>
              </a:lnSpc>
            </a:pPr>
          </a:p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0E1A3A"/>
                </a:solidFill>
                <a:latin typeface="Arimo Bold"/>
                <a:ea typeface="Arimo Bold"/>
                <a:cs typeface="Arimo Bold"/>
                <a:sym typeface="Arimo Bold"/>
              </a:rPr>
              <a:t>20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191750" y="3000375"/>
            <a:ext cx="133350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Paper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Ours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Paper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Ours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Paper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Ours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Paper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Ours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620500" y="3000375"/>
            <a:ext cx="152400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.0061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.0052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.0344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.0304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.0471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.0433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.0571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.0539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239750" y="3000375"/>
            <a:ext cx="152400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.0037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.0036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.0148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.0134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.0200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.0185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.0253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.0236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859000" y="3000375"/>
            <a:ext cx="152400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.9952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.9970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.8776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.8991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.7847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.8108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.6894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.7157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DAHSR5Gjux8</dc:identifier>
  <dcterms:modified xsi:type="dcterms:W3CDTF">2011-08-01T06:04:30Z</dcterms:modified>
  <cp:revision>1</cp:revision>
  <dc:title>Ibrahim Hanafy — Contribution (NECAI / STDF #50955)</dc:title>
</cp:coreProperties>
</file>